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tags" Target="../tags/tag23.xml"/><Relationship Id="rId12" Type="http://schemas.openxmlformats.org/officeDocument/2006/relationships/tags" Target="../tags/tag24.xml"/><Relationship Id="rId13" Type="http://schemas.openxmlformats.org/officeDocument/2006/relationships/tags" Target="../tags/tag25.xml"/><Relationship Id="rId14" Type="http://schemas.openxmlformats.org/officeDocument/2006/relationships/tags" Target="../tags/tag26.xml"/><Relationship Id="rId15" Type="http://schemas.openxmlformats.org/officeDocument/2006/relationships/tags" Target="../tags/tag27.xml"/><Relationship Id="rId16" Type="http://schemas.openxmlformats.org/officeDocument/2006/relationships/tags" Target="../tags/tag28.xml"/><Relationship Id="rId17" Type="http://schemas.openxmlformats.org/officeDocument/2006/relationships/tags" Target="../tags/tag29.xml"/><Relationship Id="rId18" Type="http://schemas.openxmlformats.org/officeDocument/2006/relationships/tags" Target="../tags/tag30.xml"/><Relationship Id="rId19" Type="http://schemas.openxmlformats.org/officeDocument/2006/relationships/tags" Target="../tags/tag31.xml"/><Relationship Id="rId20" Type="http://schemas.openxmlformats.org/officeDocument/2006/relationships/tags" Target="../tags/tag32.xml"/><Relationship Id="rId21" Type="http://schemas.openxmlformats.org/officeDocument/2006/relationships/tags" Target="../tags/tag33.xml"/><Relationship Id="rId22" Type="http://schemas.openxmlformats.org/officeDocument/2006/relationships/tags" Target="../tags/tag34.xml"/><Relationship Id="rId23" Type="http://schemas.openxmlformats.org/officeDocument/2006/relationships/tags" Target="../tags/tag35.xml"/><Relationship Id="rId24" Type="http://schemas.openxmlformats.org/officeDocument/2006/relationships/tags" Target="../tags/tag36.xml"/><Relationship Id="rId25" Type="http://schemas.openxmlformats.org/officeDocument/2006/relationships/tags" Target="../tags/tag37.xml"/><Relationship Id="rId26" Type="http://schemas.openxmlformats.org/officeDocument/2006/relationships/tags" Target="../tags/tag38.xml"/><Relationship Id="rId27" Type="http://schemas.openxmlformats.org/officeDocument/2006/relationships/tags" Target="../tags/tag39.xml"/><Relationship Id="rId28" Type="http://schemas.openxmlformats.org/officeDocument/2006/relationships/tags" Target="../tags/tag40.xml"/><Relationship Id="rId29" Type="http://schemas.openxmlformats.org/officeDocument/2006/relationships/tags" Target="../tags/tag41.xml"/><Relationship Id="rId30" Type="http://schemas.openxmlformats.org/officeDocument/2006/relationships/image" Target="../media/image1.jpeg"/><Relationship Id="rId3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14.jpeg"/><Relationship Id="rId8" Type="http://schemas.openxmlformats.org/officeDocument/2006/relationships/image" Target="../media/image15.jpeg"/><Relationship Id="rId9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601200" y="274320"/>
            <a:ext cx="365760" cy="36576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149840" y="411479"/>
            <a:ext cx="365760" cy="36576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698480" y="548640"/>
            <a:ext cx="365760" cy="36576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247120" y="685800"/>
            <a:ext cx="365760" cy="36576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795760" y="822959"/>
            <a:ext cx="365760" cy="36576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5486400"/>
            <a:ext cx="137160" cy="13716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5760720"/>
            <a:ext cx="137160" cy="13716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0240" y="5486400"/>
            <a:ext cx="137160" cy="13716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51760" y="5760720"/>
            <a:ext cx="137160" cy="13716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365760"/>
            <a:ext cx="4114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桂林电子科技大学  艺术与设计学院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非遗视角下侗乡医药数字展示平台设计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514600"/>
            <a:ext cx="484632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Design of Dong Medicine Digital Exhibition Platform from the Perspective of ICH</a:t>
            </a:r>
          </a:p>
        </p:txBody>
      </p:sp>
      <p:sp>
        <p:nvSpPr>
          <p:cNvPr id="18" name="Rounded Rectangle 17"/>
          <p:cNvSpPr/>
          <p:nvPr>
            <p:custDataLst>
              <p:tags r:id="rId1"/>
            </p:custDataLst>
          </p:nvPr>
        </p:nvSpPr>
        <p:spPr>
          <a:xfrm>
            <a:off x="1097280" y="3840480"/>
            <a:ext cx="2377440" cy="109728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2"/>
            </p:custDataLst>
          </p:nvPr>
        </p:nvSpPr>
        <p:spPr>
          <a:xfrm>
            <a:off x="109728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答辩人</a:t>
            </a:r>
          </a:p>
        </p:txBody>
      </p:sp>
      <p:sp>
        <p:nvSpPr>
          <p:cNvPr id="20" name="TextBox 19"/>
          <p:cNvSpPr txBox="1"/>
          <p:nvPr>
            <p:custDataLst>
              <p:tags r:id="rId3"/>
            </p:custDataLst>
          </p:nvPr>
        </p:nvSpPr>
        <p:spPr>
          <a:xfrm>
            <a:off x="1097280" y="4343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谢世隆</a:t>
            </a:r>
          </a:p>
        </p:txBody>
      </p:sp>
      <p:sp>
        <p:nvSpPr>
          <p:cNvPr id="21" name="Rounded Rectangle 20"/>
          <p:cNvSpPr/>
          <p:nvPr>
            <p:custDataLst>
              <p:tags r:id="rId4"/>
            </p:custDataLst>
          </p:nvPr>
        </p:nvSpPr>
        <p:spPr>
          <a:xfrm>
            <a:off x="3749039" y="3840480"/>
            <a:ext cx="2377440" cy="109728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5"/>
            </p:custDataLst>
          </p:nvPr>
        </p:nvSpPr>
        <p:spPr>
          <a:xfrm>
            <a:off x="3749039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学  号</a:t>
            </a:r>
          </a:p>
        </p:txBody>
      </p:sp>
      <p:sp>
        <p:nvSpPr>
          <p:cNvPr id="23" name="TextBox 22"/>
          <p:cNvSpPr txBox="1"/>
          <p:nvPr>
            <p:custDataLst>
              <p:tags r:id="rId6"/>
            </p:custDataLst>
          </p:nvPr>
        </p:nvSpPr>
        <p:spPr>
          <a:xfrm>
            <a:off x="3749039" y="4343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2200470227</a:t>
            </a:r>
          </a:p>
        </p:txBody>
      </p:sp>
      <p:sp>
        <p:nvSpPr>
          <p:cNvPr id="24" name="Rounded Rectangle 23"/>
          <p:cNvSpPr/>
          <p:nvPr>
            <p:custDataLst>
              <p:tags r:id="rId7"/>
            </p:custDataLst>
          </p:nvPr>
        </p:nvSpPr>
        <p:spPr>
          <a:xfrm>
            <a:off x="6400800" y="3840480"/>
            <a:ext cx="2377440" cy="109728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8"/>
            </p:custDataLst>
          </p:nvPr>
        </p:nvSpPr>
        <p:spPr>
          <a:xfrm>
            <a:off x="640080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专  业</a:t>
            </a:r>
          </a:p>
        </p:txBody>
      </p:sp>
      <p:sp>
        <p:nvSpPr>
          <p:cNvPr id="26" name="TextBox 25"/>
          <p:cNvSpPr txBox="1"/>
          <p:nvPr>
            <p:custDataLst>
              <p:tags r:id="rId9"/>
            </p:custDataLst>
          </p:nvPr>
        </p:nvSpPr>
        <p:spPr>
          <a:xfrm>
            <a:off x="6400800" y="4343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数字媒体技术</a:t>
            </a:r>
          </a:p>
        </p:txBody>
      </p:sp>
      <p:sp>
        <p:nvSpPr>
          <p:cNvPr id="27" name="Rounded Rectangle 26"/>
          <p:cNvSpPr/>
          <p:nvPr>
            <p:custDataLst>
              <p:tags r:id="rId10"/>
            </p:custDataLst>
          </p:nvPr>
        </p:nvSpPr>
        <p:spPr>
          <a:xfrm>
            <a:off x="9052559" y="3840480"/>
            <a:ext cx="2377440" cy="109728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11"/>
            </p:custDataLst>
          </p:nvPr>
        </p:nvSpPr>
        <p:spPr>
          <a:xfrm>
            <a:off x="9052559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指导教师</a:t>
            </a:r>
          </a:p>
        </p:txBody>
      </p:sp>
      <p:sp>
        <p:nvSpPr>
          <p:cNvPr id="29" name="TextBox 28"/>
          <p:cNvSpPr txBox="1"/>
          <p:nvPr>
            <p:custDataLst>
              <p:tags r:id="rId12"/>
            </p:custDataLst>
          </p:nvPr>
        </p:nvSpPr>
        <p:spPr>
          <a:xfrm>
            <a:off x="9052559" y="4343400"/>
            <a:ext cx="23774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胡清钟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C1E9"/>
                </a:solidFill>
                <a:latin typeface="微软雅黑" panose="020B0503020204020204" charset="-122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汇报提纲  CONTENTS</a:t>
            </a:r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1097280" y="1371600"/>
            <a:ext cx="73152" cy="685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371600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286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选题背景与意义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28600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侗乡医药非遗面临的困境与数字化保护方案</a:t>
            </a:r>
          </a:p>
        </p:txBody>
      </p:sp>
      <p:sp>
        <p:nvSpPr>
          <p:cNvPr id="11" name="Rectangle 10"/>
          <p:cNvSpPr/>
          <p:nvPr>
            <p:custDataLst>
              <p:tags r:id="rId5"/>
            </p:custDataLst>
          </p:nvPr>
        </p:nvSpPr>
        <p:spPr>
          <a:xfrm>
            <a:off x="1133856" y="2057400"/>
            <a:ext cx="9144" cy="155448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1097280" y="2212848"/>
            <a:ext cx="73152" cy="6858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1371600" y="22585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2286000" y="2212848"/>
            <a:ext cx="4572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 lang="zh-CN"/>
              <a:t>系统</a:t>
            </a:r>
            <a:r>
              <a:rPr lang="zh-CN"/>
              <a:t>设计</a:t>
            </a:r>
            <a:endParaRPr lang="zh-CN"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286000" y="2578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平台功能、数据内容、技术架构总览</a:t>
            </a:r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1133856" y="2898648"/>
            <a:ext cx="9144" cy="155448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1"/>
            </p:custDataLst>
          </p:nvPr>
        </p:nvSpPr>
        <p:spPr>
          <a:xfrm>
            <a:off x="1097280" y="3054096"/>
            <a:ext cx="73152" cy="685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1371600" y="309981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2255520" y="3053461"/>
            <a:ext cx="4572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 lang="zh-CN"/>
              <a:t>系统</a:t>
            </a:r>
            <a:r>
              <a:rPr lang="zh-CN"/>
              <a:t>实现</a:t>
            </a:r>
            <a:endParaRPr lang="zh-CN"/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2286000" y="341985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设计调研、系统设计、前后端实现过程</a:t>
            </a:r>
          </a:p>
        </p:txBody>
      </p:sp>
      <p:sp>
        <p:nvSpPr>
          <p:cNvPr id="21" name="Rectangle 20"/>
          <p:cNvSpPr/>
          <p:nvPr>
            <p:custDataLst>
              <p:tags r:id="rId15"/>
            </p:custDataLst>
          </p:nvPr>
        </p:nvSpPr>
        <p:spPr>
          <a:xfrm>
            <a:off x="1133856" y="3739896"/>
            <a:ext cx="9144" cy="155448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6"/>
            </p:custDataLst>
          </p:nvPr>
        </p:nvSpPr>
        <p:spPr>
          <a:xfrm>
            <a:off x="1097280" y="3895344"/>
            <a:ext cx="73152" cy="6858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1371600" y="394106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2286000" y="38953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创新点</a:t>
            </a: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2286000" y="42611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四大核心创新：技术、设计、文化、安全</a:t>
            </a:r>
          </a:p>
        </p:txBody>
      </p:sp>
      <p:sp>
        <p:nvSpPr>
          <p:cNvPr id="26" name="Rectangle 25"/>
          <p:cNvSpPr/>
          <p:nvPr>
            <p:custDataLst>
              <p:tags r:id="rId20"/>
            </p:custDataLst>
          </p:nvPr>
        </p:nvSpPr>
        <p:spPr>
          <a:xfrm>
            <a:off x="1133856" y="4581144"/>
            <a:ext cx="9144" cy="155448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1"/>
            </p:custDataLst>
          </p:nvPr>
        </p:nvSpPr>
        <p:spPr>
          <a:xfrm>
            <a:off x="1097280" y="4736592"/>
            <a:ext cx="73152" cy="685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2"/>
            </p:custDataLst>
          </p:nvPr>
        </p:nvSpPr>
        <p:spPr>
          <a:xfrm>
            <a:off x="1371600" y="47823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>
            <p:custDataLst>
              <p:tags r:id="rId23"/>
            </p:custDataLst>
          </p:nvPr>
        </p:nvSpPr>
        <p:spPr>
          <a:xfrm>
            <a:off x="228600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系统测试</a:t>
            </a:r>
          </a:p>
        </p:txBody>
      </p:sp>
      <p:sp>
        <p:nvSpPr>
          <p:cNvPr id="30" name="TextBox 29"/>
          <p:cNvSpPr txBox="1"/>
          <p:nvPr>
            <p:custDataLst>
              <p:tags r:id="rId24"/>
            </p:custDataLst>
          </p:nvPr>
        </p:nvSpPr>
        <p:spPr>
          <a:xfrm>
            <a:off x="2286000" y="51023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多层次多维度测试验证体系</a:t>
            </a:r>
          </a:p>
        </p:txBody>
      </p:sp>
      <p:sp>
        <p:nvSpPr>
          <p:cNvPr id="31" name="Rectangle 30"/>
          <p:cNvSpPr/>
          <p:nvPr>
            <p:custDataLst>
              <p:tags r:id="rId25"/>
            </p:custDataLst>
          </p:nvPr>
        </p:nvSpPr>
        <p:spPr>
          <a:xfrm>
            <a:off x="1133856" y="5422392"/>
            <a:ext cx="9144" cy="155448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>
            <p:custDataLst>
              <p:tags r:id="rId26"/>
            </p:custDataLst>
          </p:nvPr>
        </p:nvSpPr>
        <p:spPr>
          <a:xfrm>
            <a:off x="1097280" y="5577840"/>
            <a:ext cx="73152" cy="6858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27"/>
            </p:custDataLst>
          </p:nvPr>
        </p:nvSpPr>
        <p:spPr>
          <a:xfrm>
            <a:off x="1371600" y="5623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>
            <p:custDataLst>
              <p:tags r:id="rId28"/>
            </p:custDataLst>
          </p:nvPr>
        </p:nvSpPr>
        <p:spPr>
          <a:xfrm>
            <a:off x="22860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35" name="TextBox 34"/>
          <p:cNvSpPr txBox="1"/>
          <p:nvPr>
            <p:custDataLst>
              <p:tags r:id="rId29"/>
            </p:custDataLst>
          </p:nvPr>
        </p:nvSpPr>
        <p:spPr>
          <a:xfrm>
            <a:off x="2286000" y="5943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收获、不足与未来发展方向</a:t>
            </a:r>
          </a:p>
        </p:txBody>
      </p:sp>
      <p:pic>
        <p:nvPicPr>
          <p:cNvPr id="36" name="Picture 35" descr="gouteng1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57440" y="1828800"/>
            <a:ext cx="39725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选题背景与意义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BACKGROUND &amp; SIGNIFICANCE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侗乡医药非遗面临的困境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075688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经典药方失传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31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长期依赖口传心授，缺乏标准化数字整理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9776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61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传承人老龄化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35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代表性传承人平均年龄偏高，后继乏人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83864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知识碎片化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398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药用植物知识缺乏系统性采集与存储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187952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传播渠道狭窄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439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局限于本地社区，外界了解甚少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892040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资源散落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48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缺乏统一的数字化保护平台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596128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文化流失风险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52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现代化冲击下传统文化加速消亡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数字化保护方案：侗乡医药数字展示平台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2075688"/>
            <a:ext cx="320040" cy="32004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数据标准化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331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结构化存储药方、疗法、传承人、药用植物数据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2779776"/>
            <a:ext cx="320040" cy="32004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761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多媒体展示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035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图文、视频、音频、文档在线预览多维呈现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3483864"/>
            <a:ext cx="320040" cy="32004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465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在线传播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7398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B/S架构突破地域限制，扩大文化影响力</a:t>
            </a:r>
          </a:p>
        </p:txBody>
      </p:sp>
      <p:sp>
        <p:nvSpPr>
          <p:cNvPr id="41" name="Oval 40"/>
          <p:cNvSpPr/>
          <p:nvPr/>
        </p:nvSpPr>
        <p:spPr>
          <a:xfrm>
            <a:off x="6492240" y="4187952"/>
            <a:ext cx="320040" cy="32004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169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活态传承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4439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趣味答题、植物游戏、AI智能对话增强互动</a:t>
            </a:r>
          </a:p>
        </p:txBody>
      </p:sp>
      <p:sp>
        <p:nvSpPr>
          <p:cNvPr id="44" name="Oval 43"/>
          <p:cNvSpPr/>
          <p:nvPr/>
        </p:nvSpPr>
        <p:spPr>
          <a:xfrm>
            <a:off x="6492240" y="4892040"/>
            <a:ext cx="320040" cy="32004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文化融合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148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侗锦靛蓝+药草翠绿，传统纹样融入现代界面</a:t>
            </a:r>
          </a:p>
        </p:txBody>
      </p:sp>
      <p:sp>
        <p:nvSpPr>
          <p:cNvPr id="47" name="Oval 46"/>
          <p:cNvSpPr/>
          <p:nvPr/>
        </p:nvSpPr>
        <p:spPr>
          <a:xfrm>
            <a:off x="6492240" y="5596128"/>
            <a:ext cx="320040" cy="320040"/>
          </a:xfrm>
          <a:prstGeom prst="ellipse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可持续运营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852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Docker容器化部署，低运维成本可持续运行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平台总览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WHAT WE BUILT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828800" cy="5486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药用植物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含学名、侗语名</a:t>
            </a:r>
          </a:p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药用部位、功效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21992" y="12801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21992" y="1280160"/>
            <a:ext cx="182880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2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知识条目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12项经典药方</a:t>
            </a:r>
          </a:p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9类核心疗法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9664" y="12801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9664" y="1280160"/>
            <a:ext cx="1828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传承人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国家级/自治区级/县级</a:t>
            </a:r>
          </a:p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完整档案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7336" y="12801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7336" y="1280160"/>
            <a:ext cx="1828800" cy="5486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7336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问答条目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知识理解/使用咨询</a:t>
            </a:r>
          </a:p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文化背景三类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12801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1280160"/>
            <a:ext cx="182880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学习资源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入门/进阶/专业</a:t>
            </a:r>
          </a:p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三级分类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79" y="12801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12679" y="1280160"/>
            <a:ext cx="1828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79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79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测验题目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39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50道基础+20道进阶</a:t>
            </a:r>
          </a:p>
          <a:p>
            <a:pPr algn="ctr">
              <a:spcAft>
                <a:spcPts val="270"/>
              </a:spcAft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趣味答题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9大功能模块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374903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3749039"/>
            <a:ext cx="73152" cy="12344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用户管理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2062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注册登录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验证码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JWT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权限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51760" y="374903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51760" y="3749039"/>
            <a:ext cx="73152" cy="123444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知识库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42062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三级联动检索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药方疗法解析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374903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3749039"/>
            <a:ext cx="73152" cy="12344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传承人风采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42062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三级分类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履历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技艺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案例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374903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06640" y="3749039"/>
            <a:ext cx="73152" cy="123444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药用图鉴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42062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双维度筛选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62种植物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84080" y="374903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84080" y="3749039"/>
            <a:ext cx="73152" cy="12344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696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非遗问答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42062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分类展示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AI智能对话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516635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5166359"/>
            <a:ext cx="73152" cy="123444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2577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文化互动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62355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趣味答题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植物识别游戏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51760" y="516635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51760" y="5166359"/>
            <a:ext cx="73152" cy="12344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52577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学习资源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562355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三级分类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kkFileView预览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0" y="516635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29200" y="5166359"/>
            <a:ext cx="73152" cy="123444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12080" y="52577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数据可视化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562355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ECharts图表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多维统计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06640" y="5166359"/>
            <a:ext cx="2194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406640" y="5166359"/>
            <a:ext cx="73152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89520" y="52577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管理后台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0" y="562355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9类CRUD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仪表盘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审核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TECHNOLOGY ARCHITECTURE</a:t>
            </a:r>
          </a:p>
        </p:txBody>
      </p:sp>
      <p:pic>
        <p:nvPicPr>
          <p:cNvPr id="8" name="Picture 7" descr="system-architecture.draw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772400" cy="5303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28016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1280160"/>
            <a:ext cx="33832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325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 84组件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83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Vue 3.4 + Vite 5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Element Plus + Pinia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Vue Router + Axios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ECharts + Marked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6324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063240"/>
            <a:ext cx="338328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108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259个Java文件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66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Boot 3.1.12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MyBatis-Plus 3.5.9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Sa-Token 1.37.0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SpringDoc 2.2.0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48463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4846320"/>
            <a:ext cx="3383280" cy="411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892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8服务容器化部署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492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MySQL 8.0 + Redis 7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RabbitMQ 3.12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Nginx + kkFileView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Prometheus + Grafana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设计调研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DESIGN 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71600"/>
            <a:ext cx="27889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788920" cy="502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文献调研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非遗数字化保护理论与实践路径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Vue 3 + Spring Boot技术栈实践验证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侗族医药文化研究成果与学术支撑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国内外13篇参考文献系统梳理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371600"/>
            <a:ext cx="27889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788920" cy="50292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数据调研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三江县文旅局官网非遗专栏采集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《非遗名录(2025版)》系统整理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传承人工坊公开访谈视频补充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侗语药用植物命名学术研究参考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7889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8892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竞品调研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中国非遗网/贵州苗医药平台/广西非遗馆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数据更新不及时、移动端适配不足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文化解读浅显，缺乏深度挖掘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明确差异化优化方向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371600"/>
            <a:ext cx="27889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371600"/>
            <a:ext cx="27889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用户调研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普通公众：简洁直观、通俗易懂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医药爱好者：深度药方、传承人信息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在校学生：学习资源可获取性与系统性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三类用例图：访客/注册用户/管理员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用例图设计：访客（浏览/搜索） -&gt; 注册用户（+收藏/评论/答题/反馈） -&gt; 管理员（+内容管理/用户管理/数据导出）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功能模块设计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FUNCTIONAL MODULE DESIGN</a:t>
            </a:r>
          </a:p>
        </p:txBody>
      </p:sp>
      <p:pic>
        <p:nvPicPr>
          <p:cNvPr id="8" name="Picture 7" descr="module-system.draw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858000" cy="5303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371600"/>
            <a:ext cx="42976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371600"/>
            <a:ext cx="73152" cy="1600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核心模块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知识库 - 三级联动检索体系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传承人 - 三级分类展示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药用图鉴 - 双维度筛选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问答系统 - AI智能对话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154680"/>
            <a:ext cx="42976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154680"/>
            <a:ext cx="73152" cy="16002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拓展模块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118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文化互动 - 答题+植物游戏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学习资源 - 分类下载+在线预览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数据可视化 - ECharts图表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937760"/>
            <a:ext cx="42976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937760"/>
            <a:ext cx="73152" cy="1600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系统模块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3949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用户管理 - 注册/登录/权限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管理后台 - 9类CRUD管理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DATABASE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65760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数据库设计要点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1828800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16张数据表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MySQL 8.0 + utf8mb4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2377440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3大数据域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内容管理/用户交互/系统运维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0" y="2926080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907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多态关联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target_type + target_id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3474719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4564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中文全文索引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70331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MySQL ngram解析器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0" y="4023360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005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JSON字段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多媒体/步骤/案例存储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0" y="4572000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540+种子数据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800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完整初始数据集</a:t>
            </a:r>
          </a:p>
        </p:txBody>
      </p:sp>
      <p:sp>
        <p:nvSpPr>
          <p:cNvPr id="30" name="Oval 29"/>
          <p:cNvSpPr/>
          <p:nvPr/>
        </p:nvSpPr>
        <p:spPr>
          <a:xfrm>
            <a:off x="8412480" y="5120639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51023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索引优化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53492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B-tree + 全文 + 联合索引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0" y="5669280"/>
            <a:ext cx="274320" cy="2743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650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自动填充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897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createTime/updateTime</a:t>
            </a:r>
          </a:p>
        </p:txBody>
      </p:sp>
      <p:pic>
        <p:nvPicPr>
          <p:cNvPr id="39" name="图片 38" descr="er-overview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" y="1621155"/>
            <a:ext cx="8044815" cy="4505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FRONTEND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84 Vue组件  |  14 页面  |  19 管理后台组件  |  17 Composables  |  8 自定义指令  |  14 路由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36576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首页 Hero区域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全屏沉浸式设计，深靛蓝渐变背景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叠加动态SVG侗锦菱形纹样动画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数据统计概览条动态获取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28600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2286000"/>
            <a:ext cx="365760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知识库 三级联动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疗法分类 + 病症分类 + 药材分类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computed实时过滤 + URL同步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详情对话框集成收藏/关联跳转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8600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36576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传承人 分级展示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34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国家级金色边框特殊标识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悬停scale(1.02)阴影过渡动效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五大信息板块el-tabs组织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57200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365760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617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植物图鉴 双维度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植物类型 + 使用方式筛选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高清图轮播 + 侗语名绿色徽章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药用故事文化解读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57200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4572000"/>
            <a:ext cx="36576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617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AI对话 WebSocket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120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ws://host:port/ws/chat实时通信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DeepSeek流式推理 + Marked渲染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打字机效果 + 历史会话管理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57200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572000"/>
            <a:ext cx="3657600" cy="411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4617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管理后台 统一CRUD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120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AdminDataTable统一表格组件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FormDialog + DetailDialog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侧边栏树形导航 + 仪表盘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BACKEND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27 Controller  |  19 Service  |  16 Mapper  |  17 Entity  |  32 DTO  |  20+ Config  |  5 MQ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27889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78892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27个REST控制器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统一R.java响应包装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Swagger API文档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@SaCheckRole权限控制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286000"/>
            <a:ext cx="27889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2286000"/>
            <a:ext cx="2788920" cy="4572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19个业务实现类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@Cacheable缓存注解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@Async异步任务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接口+实现解耦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27889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286000"/>
            <a:ext cx="278892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Mapper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16个数据访问接口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BaseMapper泛型基类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@Select自定义SQL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分页插件自动分页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286000"/>
            <a:ext cx="27889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2286000"/>
            <a:ext cx="278892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MQ +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5组生产者/消费者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20+配置类集中管理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两级缓存/认证/跨域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WebSocket/异步线程池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核心技术实现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  AI对话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03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WebSocket + DeepSeek API流式通信(SSE)，system prompt限定侗族医药领域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  消息队列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669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RabbitMQ 5组队列异步解耦，发布确认+死信交换机+指数退避重试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  文件管理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6035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UUID重命名 + 分片上传 + kkFileView在线预览(PDF/Office/视频)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  热度计算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@Async线程池 + MQ消息，不阻塞主业务流程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创新点一：Redis + Caffeine 真两级缓存架构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INNOVATION 1: TWO-LEVEL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0292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L1: Caffeine 本地缓存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最大 1000 条目，写入后 10 分钟过期</a:t>
            </a:r>
          </a:p>
          <a:p>
            <a:pPr algn="l">
              <a:spcAft>
                <a:spcPts val="104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访问后 30 分钟过期（LRU淘汰策略）</a:t>
            </a:r>
          </a:p>
          <a:p>
            <a:pPr algn="l">
              <a:spcAft>
                <a:spcPts val="104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纯内存访问，微秒级响应</a:t>
            </a:r>
          </a:p>
          <a:p>
            <a:pPr algn="l">
              <a:spcAft>
                <a:spcPts val="104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进程内缓存，无网络开销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657600"/>
            <a:ext cx="34747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749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读取: 先查 L1 (Caffeine)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2. L1 命中 -&gt; 直接返回 (微秒)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3. L1 未命中 -&gt; 查 L2 (Redis)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4. L2 命中 -&gt; 回填 L1 -&gt; 返回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5. L2 未命中 -&gt; 查 DB -&gt; 回填两级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L2: Redis 分布式缓存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各缓存区域独立 TTL 配置：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68880"/>
            <a:ext cx="5029200" cy="3657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plants / knowledges / inheritors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6 小时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4 小时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291840"/>
            <a:ext cx="5029200" cy="3657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30 分钟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quizQuestions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12 小时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5029200" cy="3657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searchResults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5 分钟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52628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hotData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1 小时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20640"/>
            <a:ext cx="5029200" cy="109728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212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自动降级机制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577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 不可用时自动降级为仅使用 Caffeine 本地缓存，保证系统可用性不受影响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创新点二：侗族文化元素深度融入界面设计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INNOVATION 2: CULTURAL VISUAL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色彩体系（CSS Design Tokens）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457200" cy="320040"/>
          </a:xfrm>
          <a:prstGeom prst="roundRect">
            <a:avLst/>
          </a:prstGeom>
          <a:solidFill>
            <a:srgbClr val="1A527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侗锦靛蓝  #1A5276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--dong-indigo  (主色调)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77440"/>
            <a:ext cx="457200" cy="320040"/>
          </a:xfrm>
          <a:prstGeom prst="roundRect">
            <a:avLst/>
          </a:prstGeom>
          <a:solidFill>
            <a:srgbClr val="28B46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药草翡翠绿  #28B463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--dong-jade  (辅助色)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34640"/>
            <a:ext cx="457200" cy="320040"/>
          </a:xfrm>
          <a:prstGeom prst="roundRect">
            <a:avLst/>
          </a:prstGeom>
          <a:solidFill>
            <a:srgbClr val="C9A22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852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琥珀金  #C9A227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52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--dong-gold  (强调色)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91840"/>
            <a:ext cx="457200" cy="320040"/>
          </a:xfrm>
          <a:prstGeom prst="roundRect">
            <a:avLst/>
          </a:prstGeom>
          <a:solidFill>
            <a:srgbClr val="F8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10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暖宣纸色  #F8F5F0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10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--bg-rice  (背景色)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字体与排版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标题：思源宋体 (Noto Serif SC) - 传统气质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正文：思源黑体 (Noto Sans SC) - 现代可读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9级字号阶梯 + 基于4px基数的8级间距系统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1371600"/>
            <a:ext cx="5669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纯CSS侗族纹样库 (dong-patterns.css)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965960"/>
            <a:ext cx="512064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侗锦菱形纹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.dong-brocade-bg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42316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铜鼓同心纹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.dong-drum-pattern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880360"/>
            <a:ext cx="512064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织锦边框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.dong-border-top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33756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织锦角花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.dong-corner-decorated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794760"/>
            <a:ext cx="512064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蓝靛染肌理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.dong-indigo-texture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25196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药草叶脉线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.dong-herb-line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709160"/>
            <a:ext cx="512064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水纹分隔线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.dong-wave-divider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5486400"/>
            <a:ext cx="5669280" cy="9144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5577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所有纹样均通过纯CSS实现，无需额外图片资源，轻量化且易于维护。</a:t>
            </a:r>
            <a:br/>
            <a:r>
              <a:t>融合侗锦靛蓝+药草翠绿双主色调，构建兼具文化辨识度与现代审美的视觉体系。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创新点三：多层纵深安全防护体系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INNOVATION 3: MULTI-LAYER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71600"/>
            <a:ext cx="27889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78892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认证层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微软雅黑" panose="020B0503020204020204" charset="-122"/>
              </a:defRPr>
            </a:pPr>
            <a:r>
              <a:t>Sa-Token +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UUID令牌，30天有效期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同端互斥登录，活动超时续期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@SaCheckRole角色拦截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拦截器保护所有写操作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371600"/>
            <a:ext cx="27889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371600"/>
            <a:ext cx="2788920" cy="73152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防护层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微软雅黑" panose="020B0503020204020204" charset="-122"/>
              </a:defRPr>
            </a:pPr>
            <a:r>
              <a:t>XSS + SQL注入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前端请求拦截器自动清洗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后端XssFilter全局过滤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30种XSS危险模式检测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SQL注入UNION SELECT检测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7889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88920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限流层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微软雅黑" panose="020B0503020204020204" charset="-122"/>
              </a:defRPr>
            </a:pPr>
            <a:r>
              <a:t>Redis分布式限流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@RateLimit注解标记接口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滑动窗口计数算法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Redis不可用降级本地令牌桶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登录5次/秒，注册3次/秒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371600"/>
            <a:ext cx="27889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371600"/>
            <a:ext cx="278892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微软雅黑" panose="020B0503020204020204" charset="-122"/>
              </a:defRPr>
            </a:pPr>
            <a:r>
              <a:t>加密与脱敏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BCrypt密码哈希(盐轮10)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五级密码复杂度校验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@JsonProperty防泄露 + 日志/操作日志多层脱敏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UUID RequestId请求追踪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212080"/>
            <a:ext cx="11612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纵深防御流程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浏览器(XSS过滤) -&gt; Nginx(CORS/CSP/HSTS) -&gt; Sa-Token(JWT验证) -&gt; XssFilter(请求净化) -&gt; RateLimit(接口限流) -&gt; Controller(参数校验) -&gt; Service(业务逻辑)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创新点四：AI智能对话 + 异步消息架构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INNOVATION 4: AI CHAT &amp; ASYNC MQ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DeepSeek AI 智能对话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WebSocket实时双向通信 (ws://host:port/ws/chat)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WebClient + Project Reactor Flux 流式通信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DeepSeek API /chat/completions 端点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SSE(Server-Sent Events)逐token实时推送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Marked库Markdown渲染 + DOMPurify安全过滤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打字机效果交互体验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System Prompt设计：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定位为'侗族传统医药知识智能助手'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限定回答范围：侗族医药/中医药/非遗保护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历史对话按session_id分组存储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支持查看和继续历史对话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RabbitMQ 异步消息架构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502920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391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operation.log.queue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0391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操作日志异步持久化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AOP切面 -&gt; MQ -&gt; 异步写入DB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060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33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statistics.queue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6334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热度值异步计算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6207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不阻塞主业务流程响应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00400"/>
            <a:ext cx="502920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2278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feedback.queue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278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用户反馈通知分发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564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管理员实时接收反馈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79476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822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file.process.queue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8221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文件异步处理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507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视频转码/图片压缩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389120"/>
            <a:ext cx="502920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416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notification.queue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4165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系统通知分发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451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评论通知/审核结果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029200"/>
            <a:ext cx="5029200" cy="11887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120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消息可靠性保障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440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Publisher Confirm发布确认 + Mandatory Callback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死信交换机(DLX)处理失败消息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指数退避重试(初始1s, 乘数2.0, 最大3次)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Jackson2JsonMessageConverter统一序列化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SYSTEM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2788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788920" cy="5486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测试文件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37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总数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80160"/>
            <a:ext cx="2788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280160"/>
            <a:ext cx="278892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后端测试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单元/集成/回归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788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2788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前端单元测试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737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utils/composables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280160"/>
            <a:ext cx="2788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280160"/>
            <a:ext cx="27889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E2E测试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1737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三浏览器引擎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2651760"/>
            <a:ext cx="3703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651760"/>
            <a:ext cx="370332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4612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单元测试：62个类覆盖全部Controller和Service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集成测试：6个类基于H2内存数据库端到端验证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回归测试：6个类@Nested嵌套防护性测试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MockMvc验证接口路径/参数/响应/异常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651760"/>
            <a:ext cx="3703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40" y="2651760"/>
            <a:ext cx="3703320" cy="4572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24612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单元测试：25个文件覆盖utils/composables/store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E2E测试：9个spec，Chromium/Firefox/WebKit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响应式测试：375px/768px/1920px三断点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AI对话测试：WebSocket连接+流式消息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651760"/>
            <a:ext cx="3703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2651760"/>
            <a:ext cx="370332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专项测试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24612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功能测试：7大模块黑盒逐一验证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性能测试：15个自动化用例，API均值6.7~18ms，50并发零错误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安全测试：XSS/SQL注入/认证/限流/多层脱敏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兼容性测试：Chrome/Firefox/Edge/Safari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成果展示 - 核心页面效果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RESULTS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内容浏览模块
首页Hero → 知识库三级联动 → 关联跳转</a:t>
            </a:r>
          </a:p>
        </p:txBody>
      </p:sp>
      <p:pic>
        <p:nvPicPr>
          <p:cNvPr id="10" name="Picture 9" descr="module-content-browse.draw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539496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28016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用户互动模块
植物图鉴筛选 → 收藏/评论 → 答题游戏</a:t>
            </a:r>
          </a:p>
        </p:txBody>
      </p:sp>
      <p:pic>
        <p:nvPicPr>
          <p:cNvPr id="13" name="Picture 12" descr="module-user-interaction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394960" cy="2103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402336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AI对话模块
发送问题 → 流式回复 → 停止生成</a:t>
            </a:r>
          </a:p>
        </p:txBody>
      </p:sp>
      <p:pic>
        <p:nvPicPr>
          <p:cNvPr id="16" name="Picture 15" descr="module-ai-chat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343400"/>
            <a:ext cx="5394960" cy="2103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17920" y="402336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管理后台模块
CRUD操作 → 数据导出 → 仪表盘</a:t>
            </a:r>
          </a:p>
        </p:txBody>
      </p:sp>
      <p:pic>
        <p:nvPicPr>
          <p:cNvPr id="19" name="Picture 18" descr="module-admin.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343400"/>
            <a:ext cx="53949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成果展示 - 药用植物图鉴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MEDICINAL PLANT ATLAS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outeng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194560" cy="1645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31546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钩藤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2801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ougucao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2194560" cy="16459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703320" y="31546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182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透骨草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417320"/>
            <a:ext cx="219456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31546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182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九节茶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2801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1417320"/>
            <a:ext cx="219456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46920" y="31546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3182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半枫荷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0233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iy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2194560" cy="16459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31520" y="58978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25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艾叶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0233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izhu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160520"/>
            <a:ext cx="2194560" cy="16459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703320" y="58978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5925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白术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233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aiji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160520"/>
            <a:ext cx="2194560" cy="164592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675120" y="58978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925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白及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402336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bajiaolian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4160520"/>
            <a:ext cx="2194560" cy="164592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646920" y="5897879"/>
            <a:ext cx="1828800" cy="457200"/>
          </a:xfrm>
          <a:prstGeom prst="round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5925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八角莲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平台共收录62种侗族常用药用植物，每种含高清实拍图、学名、侗语名、科属、药用部位、功效、药用故事等完整信息</a:t>
            </a:r>
          </a:p>
        </p:txBody>
      </p:sp>
      <p:pic>
        <p:nvPicPr>
          <p:cNvPr id="43" name="图片 42" descr="cangzhu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4030" y="1417955"/>
            <a:ext cx="2353945" cy="1669415"/>
          </a:xfrm>
          <a:prstGeom prst="rect">
            <a:avLst/>
          </a:prstGeom>
        </p:spPr>
      </p:pic>
      <p:pic>
        <p:nvPicPr>
          <p:cNvPr id="44" name="图片 43" descr="jiujiecha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1406525"/>
            <a:ext cx="2192020" cy="17138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095390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05840"/>
            <a:ext cx="6096304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"/>
            <a:ext cx="7315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SUMMARY &amp; FUTURE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B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主要收获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技术能力：Vue 3 + Spring Boot 3 全栈开发实战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工程实践：完整经历软件工程全生命周期(200+ Git提交)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跨学科融合：数字媒体技术应用于非遗保护领域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文化理解：深入学习侗族医药文化与传统纹样设计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不足之处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数据体量有限，仅覆盖核心代表性内容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AI对话智能程度受限于通用大模型语料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缺乏社区化UGC与知识协作编辑功能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移动端交互细节与性能优化仍有空间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73152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数据深度化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引入知识图谱(Neo4j)，构建药方-成分-植物语义关联网络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73152" cy="36576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B463"/>
                </a:solidFill>
                <a:latin typeface="微软雅黑" panose="020B0503020204020204" charset="-122"/>
              </a:defRPr>
            </a:pPr>
            <a:r>
              <a:t>体验沉浸化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WebGL(Three.js)/WebXR构建3D虚拟展馆，沉浸式文化体验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73152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服务智能化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RAG技术/领域微调，打造专业侗族医药AI智能助手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126480"/>
            <a:ext cx="73152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共建社区化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贡献证明机制，构建非遗数字共建共享生态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54864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2860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36576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50292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64008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77724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91440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10515600" y="1097280"/>
            <a:ext cx="182880" cy="182880"/>
          </a:xfrm>
          <a:prstGeom prst="diamond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0584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感谢各位老师的指导与</a:t>
            </a:r>
            <a:r>
              <a:rPr lang="zh-CN"/>
              <a:t>倾</a:t>
            </a:r>
            <a:r>
              <a:t>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834640"/>
            <a:ext cx="484632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ED6F1"/>
                </a:solidFill>
                <a:latin typeface="微软雅黑" panose="020B0503020204020204" charset="-122"/>
              </a:defRPr>
            </a:pPr>
            <a:r>
              <a:t>请各位老师批评指正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114800"/>
            <a:ext cx="2377440" cy="9144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答辩人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谢世隆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114800"/>
            <a:ext cx="2377440" cy="9144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专  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数字媒体技术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114800"/>
            <a:ext cx="2377440" cy="9144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227"/>
                </a:solidFill>
                <a:latin typeface="微软雅黑" panose="020B0503020204020204" charset="-122"/>
              </a:defRPr>
            </a:pPr>
            <a:r>
              <a:t>指导教师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2377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胡清钟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C1E9"/>
                </a:solidFill>
                <a:latin typeface="微软雅黑" panose="020B0503020204020204" charset="-122"/>
              </a:defRPr>
            </a:pPr>
            <a:r>
              <a:t>桂林电子科技大学  艺术与设计学院  2026年5月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2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3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4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5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6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7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8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9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10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11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12.xml><?xml version="1.0" encoding="utf-8"?>
<p:tagLst xmlns:p="http://schemas.openxmlformats.org/presentationml/2006/main">
  <p:tag name="KSO_WM_DIAGRAM_VIRTUALLY_FRAME" val="{&quot;height&quot;:86.4,&quot;left&quot;:86.4,&quot;top&quot;:302.4,&quot;width&quot;:813.5999212598424}"/>
</p:tagLst>
</file>

<file path=ppt/tags/tag13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14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15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16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17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18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19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0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1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2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3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4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5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6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7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8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29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0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1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2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3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4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5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6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7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8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39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40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ags/tag41.xml><?xml version="1.0" encoding="utf-8"?>
<p:tagLst xmlns:p="http://schemas.openxmlformats.org/presentationml/2006/main">
  <p:tag name="KSO_WM_DIAGRAM_VIRTUALLY_FRAME" val="{&quot;height&quot;:385.2,&quot;left&quot;:86.4,&quot;top&quot;:108,&quot;width&quot;:66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6109</Words>
  <Application>WPS 演示</Application>
  <PresentationFormat>On-screen Show (4:3)</PresentationFormat>
  <Paragraphs>851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WPS_1678538097</cp:lastModifiedBy>
  <cp:revision>4</cp:revision>
  <dcterms:created xsi:type="dcterms:W3CDTF">2013-01-27T09:14:00Z</dcterms:created>
  <dcterms:modified xsi:type="dcterms:W3CDTF">2026-05-09T20:21:51Z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251074B0E45F49979D465DE794658556_12</vt:lpwstr>
  </property>
  <property fmtid="{D5CDD505-2E9C-101B-9397-08002B2CF9AE}" pid="3" name="KSOProductBuildVer">
    <vt:lpwstr>2052-12.1.0.25865</vt:lpwstr>
  </property>
</Properties>
</file>